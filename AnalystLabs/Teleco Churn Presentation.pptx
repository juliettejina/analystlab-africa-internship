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  <p:sldId id="261" r:id="rId5"/>
    <p:sldId id="258" r:id="rId6"/>
    <p:sldId id="262" r:id="rId7"/>
    <p:sldId id="257" r:id="rId8"/>
    <p:sldId id="263" r:id="rId9"/>
    <p:sldId id="264" r:id="rId10"/>
    <p:sldId id="270" r:id="rId11"/>
    <p:sldId id="267" r:id="rId12"/>
    <p:sldId id="26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84" autoAdjust="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EF65-70B0-428B-9602-C60EAF8BB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E1F2E-0265-4C9D-A752-DFFEA341B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10683-8D02-4B38-A92A-20F5BD03E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F2431-4AF2-4234-88AB-578C4C0DD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A4DD3-E240-4896-8E3B-B615B4ED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3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3E3E0-8863-4749-A5CB-87E68A4E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44385-6875-4379-88CA-B3887D579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FBC5-66F7-41D6-A7ED-9BCD920AF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C3F8-072D-4058-8F91-CEA678AF3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6CFA-16C3-4F05-8720-8A1D209B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6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F4FD-E8D4-4CC9-89F1-3BAE7329F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0EB81-8367-4750-9791-19D644F03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BCC1-4507-4AFA-BBA1-704EA17F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524C8-AB60-4ED1-9309-6AD2266B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9879A-AEA6-49EA-98DB-3EDA63455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7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E4960-EBC1-41DE-AAE8-9E9D6D80C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F94C-056B-4A22-ABAA-EF7AEB6B9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965F4-7035-4851-9B93-823A42DD1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3339B-8A8C-4155-AB3B-A45A30428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32453-1C76-493F-8769-29DC86DE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497CF-987A-423A-81D9-A3C63D14D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B7B8F-09D3-43FC-A95E-5D8F2E689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70390-431C-4512-9F27-158CDC80A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E9846-D638-49A1-8129-A7679AE3D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A56B06-39B1-489F-B1FE-3667E2DA2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F42692-F9D2-4370-90B6-396654DD1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A2474-EA16-4163-9D4B-1B37CA43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878EC-7858-48B6-B1CB-C4167FE3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BA9E6-B8C0-4D66-9DE8-3B43640F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59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56D5F-C3D7-4828-A240-96FFFCE9A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CE341-CD66-4CE2-AA1B-EC7F7483C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08EA8-5122-44CD-878E-7ACBFE869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C6ABE-727D-4FE6-8648-6C95A97A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5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CD6C95-EE4A-4493-8E65-68FC3B770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386C12-634E-4BF0-B703-593EB36D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7BC05-D0C1-4CA7-A855-399D9E67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22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1B6D0-ABF7-4167-B257-2969BD31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577EB-7AC2-4A45-AEF1-6AA8E39A2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D592B-C263-46CF-9FC9-54405FC58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35F7D-C9DA-4F7A-AB6B-C928737C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7F226-AE52-45CD-8E95-457BDD2D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5A1B9-B573-4C5F-8AC3-859781EE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8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4E67-379A-46AD-8F8E-B24801D8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116DC-7C21-441F-8036-D8AB28C76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DE508-6A21-479F-8F8A-CF1B24FD4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113FA-7BF8-4559-88C6-2A6BC082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60286-81DC-4294-B02C-CCFC1999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6CD2F-B30A-41E3-B6D2-3CE6D5C30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3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5BC8-A678-4207-86F2-5E0482E4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DFDFC-89AA-4F29-8C18-3D9EACB5F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4B061-E210-4E6C-B997-98533C29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14830-65E2-4993-993F-A543A178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C44B0-041D-4E40-8E6C-7CA2D432D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5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B96EB0-747A-4240-BA42-A97B4A735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C4B36-6143-4A70-9B4B-3EC52ADDF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66B02-EA59-4AEE-9409-6866B544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54F9D-ABFE-43DA-B42D-36DDF5FD0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8645F-5629-4F39-9052-7BB9A467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0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77BDFA-1E32-4B36-AB1B-59BF0F70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CE8AB-AAC2-494E-8A12-A50A88A5C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0193E-F25B-4EA9-BA46-753173A69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76A0D-12A5-48C8-85CC-15C1DB817F5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59958-DC5E-42ED-8625-B8B792B8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7E83-3BD8-4CEF-A176-DBAD5AF8D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790EA-708D-4EE8-8C7C-F62C0EE3E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25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C322-7352-446D-B052-1EBE38EC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993775"/>
            <a:ext cx="10858500" cy="8731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en-US" sz="4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 – ABC Communications </a:t>
            </a:r>
            <a:br>
              <a:rPr lang="en-US" sz="4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Ltd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E4BBDC-69D4-4DE1-95F6-101FEA01CDF4}"/>
              </a:ext>
            </a:extLst>
          </p:cNvPr>
          <p:cNvSpPr/>
          <p:nvPr/>
        </p:nvSpPr>
        <p:spPr>
          <a:xfrm>
            <a:off x="2705100" y="2381248"/>
            <a:ext cx="6934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Business Analytics 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46FE7C-C6F0-4E87-80CA-2D2D05B130BD}"/>
              </a:ext>
            </a:extLst>
          </p:cNvPr>
          <p:cNvSpPr/>
          <p:nvPr/>
        </p:nvSpPr>
        <p:spPr>
          <a:xfrm>
            <a:off x="4710111" y="3932340"/>
            <a:ext cx="2590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Juliet Chiejina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0AD1BE-8358-4D0A-A570-B1C8088D86BF}"/>
              </a:ext>
            </a:extLst>
          </p:cNvPr>
          <p:cNvSpPr/>
          <p:nvPr/>
        </p:nvSpPr>
        <p:spPr>
          <a:xfrm>
            <a:off x="4467225" y="3179462"/>
            <a:ext cx="3409949" cy="1096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AnalystLab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Africa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9203A3-6BAD-44E1-B8AF-313AE92BE143}"/>
              </a:ext>
            </a:extLst>
          </p:cNvPr>
          <p:cNvSpPr/>
          <p:nvPr/>
        </p:nvSpPr>
        <p:spPr>
          <a:xfrm>
            <a:off x="5123969" y="4659961"/>
            <a:ext cx="15440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2026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04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F6F61-9D17-4283-9FE6-71628963A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067800" cy="506412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B09037-4878-40B3-908C-EF35D6193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4700" y="3348037"/>
            <a:ext cx="5067300" cy="681037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  </a:t>
            </a:r>
            <a:endParaRPr lang="en-US" dirty="0"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584203-65D3-4301-B973-386736CEB0E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43024" y="1298625"/>
            <a:ext cx="669607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Insights, Risks &amp; Opportunities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138206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8E8DC-09E6-4ACA-BF8E-AECE5F386BE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00175" y="2084339"/>
            <a:ext cx="85915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Client: ABC Communications Ltd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 High customer churn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Understand why customers leave and recommend actions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92991-F755-48F9-B21D-1CDBD9D516D0}"/>
              </a:ext>
            </a:extLst>
          </p:cNvPr>
          <p:cNvSpPr/>
          <p:nvPr/>
        </p:nvSpPr>
        <p:spPr>
          <a:xfrm>
            <a:off x="3568589" y="1133475"/>
            <a:ext cx="4499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972990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23D5-71D1-407A-94D3-F8BA4BA1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150" y="1055524"/>
            <a:ext cx="3686175" cy="863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9707A4-2257-4A52-BEF6-0DAACF2B25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00225" y="1365126"/>
            <a:ext cx="68199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7,043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21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data (no missing values or duplicates)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Churn (Yes/No) </a:t>
            </a:r>
          </a:p>
        </p:txBody>
      </p:sp>
    </p:spTree>
    <p:extLst>
      <p:ext uri="{BB962C8B-B14F-4D97-AF65-F5344CB8AC3E}">
        <p14:creationId xmlns:p14="http://schemas.microsoft.com/office/powerpoint/2010/main" val="278554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CABDFFAE-A714-437F-92C3-576794AAA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314325"/>
            <a:ext cx="5017642" cy="522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FA0B99-7618-4B1F-A543-7969B72BF94A}"/>
              </a:ext>
            </a:extLst>
          </p:cNvPr>
          <p:cNvSpPr/>
          <p:nvPr/>
        </p:nvSpPr>
        <p:spPr>
          <a:xfrm>
            <a:off x="3295650" y="5358884"/>
            <a:ext cx="35964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26.5% churned</a:t>
            </a:r>
          </a:p>
        </p:txBody>
      </p:sp>
    </p:spTree>
    <p:extLst>
      <p:ext uri="{BB962C8B-B14F-4D97-AF65-F5344CB8AC3E}">
        <p14:creationId xmlns:p14="http://schemas.microsoft.com/office/powerpoint/2010/main" val="68480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52AAC9BF-7CA8-48A3-AAFB-14C04FC65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6" y="923925"/>
            <a:ext cx="8210550" cy="4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BB3ADA-9DA1-4CD4-85D3-53AF2E69E2FE}"/>
              </a:ext>
            </a:extLst>
          </p:cNvPr>
          <p:cNvSpPr/>
          <p:nvPr/>
        </p:nvSpPr>
        <p:spPr>
          <a:xfrm>
            <a:off x="2376487" y="5806558"/>
            <a:ext cx="56499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Month-to-month has the highest churn</a:t>
            </a:r>
          </a:p>
        </p:txBody>
      </p:sp>
    </p:spTree>
    <p:extLst>
      <p:ext uri="{BB962C8B-B14F-4D97-AF65-F5344CB8AC3E}">
        <p14:creationId xmlns:p14="http://schemas.microsoft.com/office/powerpoint/2010/main" val="166687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7B9B8DC-50F3-48AC-816F-CEBD95764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88" y="1190625"/>
            <a:ext cx="7439025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8A0CB2-5B9A-4BA8-AEBF-2D9430E86B6D}"/>
              </a:ext>
            </a:extLst>
          </p:cNvPr>
          <p:cNvSpPr/>
          <p:nvPr/>
        </p:nvSpPr>
        <p:spPr>
          <a:xfrm>
            <a:off x="2859107" y="5787509"/>
            <a:ext cx="36924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Fiber optic customers churn the most</a:t>
            </a:r>
          </a:p>
        </p:txBody>
      </p:sp>
    </p:spTree>
    <p:extLst>
      <p:ext uri="{BB962C8B-B14F-4D97-AF65-F5344CB8AC3E}">
        <p14:creationId xmlns:p14="http://schemas.microsoft.com/office/powerpoint/2010/main" val="1527600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9D98986-5E81-4703-9947-F44C2F9CB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1190625"/>
            <a:ext cx="8181975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679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FCEF5-E973-4158-BB8C-76F207BD41E3}"/>
              </a:ext>
            </a:extLst>
          </p:cNvPr>
          <p:cNvSpPr/>
          <p:nvPr/>
        </p:nvSpPr>
        <p:spPr>
          <a:xfrm>
            <a:off x="4057650" y="367784"/>
            <a:ext cx="28384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56137-F425-4439-A196-2AE367F44849}"/>
              </a:ext>
            </a:extLst>
          </p:cNvPr>
          <p:cNvSpPr/>
          <p:nvPr/>
        </p:nvSpPr>
        <p:spPr>
          <a:xfrm>
            <a:off x="1038225" y="1668125"/>
            <a:ext cx="8105775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120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churn rate is about 26.5%.</a:t>
            </a:r>
          </a:p>
          <a:p>
            <a:pPr fontAlgn="base">
              <a:spcBef>
                <a:spcPts val="1200"/>
              </a:spcBef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 customers have the highest churn.</a:t>
            </a:r>
          </a:p>
          <a:p>
            <a:pPr fontAlgn="base"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optic internet service customers churn more than others.</a:t>
            </a:r>
          </a:p>
          <a:p>
            <a:pPr fontAlgn="base"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leave tend to have short tenure.</a:t>
            </a:r>
          </a:p>
          <a:p>
            <a:pPr fontAlgn="base"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churn usually have higher monthly charges.</a:t>
            </a:r>
          </a:p>
        </p:txBody>
      </p:sp>
    </p:spTree>
    <p:extLst>
      <p:ext uri="{BB962C8B-B14F-4D97-AF65-F5344CB8AC3E}">
        <p14:creationId xmlns:p14="http://schemas.microsoft.com/office/powerpoint/2010/main" val="217877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5288-1A60-4D86-9D11-11925094A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1257300"/>
            <a:ext cx="3019424" cy="433388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Risks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91FF6-C21C-4C04-B244-130E73EEA5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fontAlgn="base">
              <a:spcBef>
                <a:spcPts val="120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Heavy reliance on month-to-month contracts creates unstable revenue.</a:t>
            </a:r>
          </a:p>
          <a:p>
            <a:pPr fontAlgn="base">
              <a:spcBef>
                <a:spcPts val="1200"/>
              </a:spcBef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churn among Fiber optic users may indicate service problems.</a:t>
            </a:r>
          </a:p>
          <a:p>
            <a:pPr fontAlgn="base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customer departure means the company loses money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A37DE-2C13-4EE5-BBD2-EA0E63C94A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fontAlgn="base">
              <a:spcBef>
                <a:spcPts val="120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more customers to longer-term contracts.</a:t>
            </a:r>
          </a:p>
          <a:p>
            <a:pPr fontAlgn="base">
              <a:spcBef>
                <a:spcPts val="1200"/>
              </a:spcBef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Fiber optic service quality and value.</a:t>
            </a:r>
          </a:p>
          <a:p>
            <a:pPr fontAlgn="base">
              <a:spcBef>
                <a:spcPts val="120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targeted retention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new customers</a:t>
            </a:r>
          </a:p>
          <a:p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CB97C-83A1-433D-9C93-0D024122E45F}"/>
              </a:ext>
            </a:extLst>
          </p:cNvPr>
          <p:cNvSpPr/>
          <p:nvPr/>
        </p:nvSpPr>
        <p:spPr>
          <a:xfrm>
            <a:off x="6127727" y="1105406"/>
            <a:ext cx="26416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23711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5BA273-43AB-490C-B409-E55DC7063ED3}"/>
              </a:ext>
            </a:extLst>
          </p:cNvPr>
          <p:cNvSpPr/>
          <p:nvPr/>
        </p:nvSpPr>
        <p:spPr>
          <a:xfrm>
            <a:off x="3829050" y="234434"/>
            <a:ext cx="40576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16149B-156F-49C6-80A2-654CC522BB89}"/>
              </a:ext>
            </a:extLst>
          </p:cNvPr>
          <p:cNvSpPr/>
          <p:nvPr/>
        </p:nvSpPr>
        <p:spPr>
          <a:xfrm>
            <a:off x="781050" y="948571"/>
            <a:ext cx="8353425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120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incentives for customers to move from month-to-month to 1-year or 2-year contracts.</a:t>
            </a:r>
          </a:p>
          <a:p>
            <a:pPr fontAlgn="base">
              <a:spcBef>
                <a:spcPts val="1200"/>
              </a:spcBef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 and improve Fiber optic service quality and pricing.</a:t>
            </a:r>
          </a:p>
          <a:p>
            <a:pPr fontAlgn="base"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 a special retention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customers in their first 6–12 months.</a:t>
            </a:r>
          </a:p>
          <a:p>
            <a:pPr fontAlgn="base"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pricing packages for customers with high monthly charges.</a:t>
            </a:r>
          </a:p>
          <a:p>
            <a:pPr fontAlgn="base"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a “Loyalty Checkpoint” at Month 3 and Month 6 and automatically contact new customers at these critical points with a small benefit (extra data, discount, or free service upgrade) before they decide to leave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773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9F09A8-64B5-4519-B6ED-A9137E21DEBE}"/>
              </a:ext>
            </a:extLst>
          </p:cNvPr>
          <p:cNvSpPr/>
          <p:nvPr/>
        </p:nvSpPr>
        <p:spPr>
          <a:xfrm>
            <a:off x="4071937" y="1110733"/>
            <a:ext cx="1866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F90844-5016-42E2-80EA-EC86430405EA}"/>
              </a:ext>
            </a:extLst>
          </p:cNvPr>
          <p:cNvSpPr/>
          <p:nvPr/>
        </p:nvSpPr>
        <p:spPr>
          <a:xfrm>
            <a:off x="676275" y="2376785"/>
            <a:ext cx="86582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driven mainly by contract type, tenure, internet service, and monthly charges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Clear actions can reduce churn and improve retention </a:t>
            </a:r>
          </a:p>
        </p:txBody>
      </p:sp>
    </p:spTree>
    <p:extLst>
      <p:ext uri="{BB962C8B-B14F-4D97-AF65-F5344CB8AC3E}">
        <p14:creationId xmlns:p14="http://schemas.microsoft.com/office/powerpoint/2010/main" val="2188673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85BB5F-0803-4161-96B1-F250010374F7}"/>
              </a:ext>
            </a:extLst>
          </p:cNvPr>
          <p:cNvSpPr/>
          <p:nvPr/>
        </p:nvSpPr>
        <p:spPr>
          <a:xfrm>
            <a:off x="4124326" y="2187743"/>
            <a:ext cx="3562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18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319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    Customer Churn Analysis – ABC Communications                                           Ltd </vt:lpstr>
      <vt:lpstr>Agenda </vt:lpstr>
      <vt:lpstr>PowerPoint Presentation</vt:lpstr>
      <vt:lpstr>Dataset Overview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Risks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– ABC Communications                                                 Ltd</dc:title>
  <dc:creator>LENOVO</dc:creator>
  <cp:lastModifiedBy>LENOVO</cp:lastModifiedBy>
  <cp:revision>16</cp:revision>
  <dcterms:created xsi:type="dcterms:W3CDTF">2026-08-07T18:41:03Z</dcterms:created>
  <dcterms:modified xsi:type="dcterms:W3CDTF">2026-08-08T06:45:50Z</dcterms:modified>
</cp:coreProperties>
</file>